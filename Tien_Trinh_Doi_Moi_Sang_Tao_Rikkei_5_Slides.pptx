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15400" y="0"/>
            <a:ext cx="3273552" cy="6858000"/>
          </a:xfrm>
          <a:prstGeom prst="rect">
            <a:avLst/>
          </a:prstGeom>
          <a:solidFill>
            <a:srgbClr val="193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26880" y="822960"/>
            <a:ext cx="20574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195560" y="1097280"/>
            <a:ext cx="73152" cy="4434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281160" y="5303520"/>
            <a:ext cx="20574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9326880" y="1828800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10195560" y="2788920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9326880" y="3749039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195560" y="4709160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9808" y="713232"/>
            <a:ext cx="722376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Times New Roman" panose="02020603050405020304" charset="0"/>
                <a:cs typeface="Times New Roman" panose="02020603050405020304" charset="0"/>
              </a:rPr>
              <a:t>RIKKEI  /  STRATEGY &amp; INNOVATION</a:t>
            </a:r>
            <a:endParaRPr sz="1100" b="1" i="0">
              <a:solidFill>
                <a:srgbClr val="F59E0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9808" y="1417320"/>
            <a:ext cx="7406640" cy="1965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TIẾN TRÌNH ĐỔI MỚI
SÁNG TẠO DOANH NGHIỆP</a:t>
            </a:r>
            <a:endParaRPr sz="3100" b="1" i="0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49808" y="3657600"/>
            <a:ext cx="74980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9808" y="3977639"/>
            <a:ext cx="6995160" cy="868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E2E8F0"/>
                </a:solidFill>
                <a:latin typeface="Times New Roman" panose="02020603050405020304" charset="0"/>
                <a:cs typeface="Times New Roman" panose="02020603050405020304" charset="0"/>
              </a:rPr>
              <a:t>Phương pháp luận biến ý tưởng đột phá
thành sản phẩm thương mại</a:t>
            </a:r>
            <a:endParaRPr sz="1900" b="0" i="0">
              <a:solidFill>
                <a:srgbClr val="E2E8F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9808" y="5806440"/>
            <a:ext cx="713232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BD5E1"/>
                </a:solidFill>
                <a:latin typeface="Times New Roman" panose="02020603050405020304" charset="0"/>
                <a:cs typeface="Times New Roman" panose="02020603050405020304" charset="0"/>
              </a:rPr>
              <a:t>BAN CỐ VẤN CHIẾN LƯỢC ĐỔI MỚI  •  TẬP ĐOÀN RIKKEI</a:t>
            </a:r>
            <a:endParaRPr sz="1000" b="1" i="0">
              <a:solidFill>
                <a:srgbClr val="CBD5E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81360" y="6199632"/>
            <a:ext cx="59436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01 / 05</a:t>
            </a:r>
            <a:endParaRPr sz="900" b="1" i="0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2582545" cy="153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Times New Roman" panose="02020603050405020304" charset="0"/>
                <a:cs typeface="Times New Roman" panose="02020603050405020304" charset="0"/>
              </a:rPr>
              <a:t>GIAI ĐOẠN 01  •  KHỞI NGUYÊN Ý TƯỞNG</a:t>
            </a:r>
            <a:endParaRPr sz="1000" b="1" i="0">
              <a:solidFill>
                <a:srgbClr val="F59E0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698480" cy="621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E3A8A"/>
                </a:solidFill>
                <a:latin typeface="Times New Roman" panose="02020603050405020304" charset="0"/>
                <a:cs typeface="Times New Roman" panose="02020603050405020304" charset="0"/>
              </a:rPr>
              <a:t>Thẩm định tính khả thi &amp; nghiên cứu thị trường</a:t>
            </a:r>
            <a:endParaRPr sz="2700" b="1" i="0">
              <a:solidFill>
                <a:srgbClr val="1E3A8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18520" y="411480"/>
            <a:ext cx="5029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02 / 05</a:t>
            </a:r>
            <a:endParaRPr sz="1000" b="1" i="0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658368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1719072"/>
            <a:ext cx="539496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2937"/>
                </a:solidFill>
                <a:latin typeface="Times New Roman" panose="02020603050405020304" charset="0"/>
                <a:cs typeface="Times New Roman" panose="02020603050405020304" charset="0"/>
              </a:rPr>
              <a:t>Bắt đầu từ vấn đề thật của khách hàng</a:t>
            </a:r>
            <a:endParaRPr sz="1700" b="1" i="0">
              <a:solidFill>
                <a:srgbClr val="1F29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2148840"/>
            <a:ext cx="525780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Lắng nghe nỗi đau, kiểm chứng nhu cầu trước khi đầu tư phát triển.</a:t>
            </a:r>
            <a:endParaRPr sz="1400" b="0" i="0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3401568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58368" y="2971800"/>
            <a:ext cx="64008" cy="2057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6968" y="3172968"/>
            <a:ext cx="2962656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3A8A"/>
                </a:solidFill>
                <a:latin typeface="Times New Roman" panose="02020603050405020304" charset="0"/>
                <a:cs typeface="Times New Roman" panose="02020603050405020304" charset="0"/>
              </a:rPr>
              <a:t>01  KHẢO SÁT</a:t>
            </a:r>
            <a:endParaRPr sz="1300" b="1" i="0">
              <a:solidFill>
                <a:srgbClr val="1E3A8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6968" y="3593592"/>
            <a:ext cx="2962656" cy="12984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937"/>
                </a:solidFill>
                <a:latin typeface="Times New Roman" panose="02020603050405020304" charset="0"/>
                <a:cs typeface="Times New Roman" panose="02020603050405020304" charset="0"/>
              </a:rPr>
              <a:t>500+ đối tượng mục tiêu
Tìm hiểu nhu cầu và hành vi</a:t>
            </a:r>
            <a:endParaRPr sz="1400" b="0" i="0">
              <a:solidFill>
                <a:srgbClr val="1F29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224528" y="2971800"/>
            <a:ext cx="3401568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224528" y="2971800"/>
            <a:ext cx="64008" cy="2057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53128" y="3172968"/>
            <a:ext cx="2962656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3A8A"/>
                </a:solidFill>
                <a:latin typeface="Times New Roman" panose="02020603050405020304" charset="0"/>
                <a:cs typeface="Times New Roman" panose="02020603050405020304" charset="0"/>
              </a:rPr>
              <a:t>02  CÔNG CỤ</a:t>
            </a:r>
            <a:endParaRPr sz="1300" b="1" i="0">
              <a:solidFill>
                <a:srgbClr val="1E3A8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53128" y="3593592"/>
            <a:ext cx="2962656" cy="12984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937"/>
                </a:solidFill>
                <a:latin typeface="Times New Roman" panose="02020603050405020304" charset="0"/>
                <a:cs typeface="Times New Roman" panose="02020603050405020304" charset="0"/>
              </a:rPr>
              <a:t>Lean Canvas
Phân tích dữ liệu tìm kiếm</a:t>
            </a:r>
            <a:endParaRPr sz="1400" b="0" i="0">
              <a:solidFill>
                <a:srgbClr val="1F29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28431" y="1874519"/>
            <a:ext cx="3493008" cy="3401568"/>
          </a:xfrm>
          <a:prstGeom prst="roundRect">
            <a:avLst>
              <a:gd name="adj" fmla="val 12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39327" y="2176272"/>
            <a:ext cx="27889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FDBFE"/>
                </a:solidFill>
                <a:latin typeface="Times New Roman" panose="02020603050405020304" charset="0"/>
                <a:cs typeface="Times New Roman" panose="02020603050405020304" charset="0"/>
              </a:rPr>
              <a:t>EXIT GATE  /  ĐIỀU KIỆN QUA CỔNG</a:t>
            </a:r>
            <a:endParaRPr sz="1000" b="1" i="0">
              <a:solidFill>
                <a:srgbClr val="BFDBFE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39327" y="2743200"/>
            <a:ext cx="2697480" cy="914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≥ 65%</a:t>
            </a:r>
            <a:endParaRPr sz="3600" b="1" i="0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39327" y="3657600"/>
            <a:ext cx="2651760" cy="10515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người dùng mục tiêu
sẵn sàng chi trả</a:t>
            </a:r>
            <a:endParaRPr sz="1700" b="1" i="0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339327" y="4709160"/>
            <a:ext cx="658368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8368" y="5623560"/>
            <a:ext cx="1069848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3A8A"/>
                </a:solidFill>
                <a:latin typeface="Times New Roman" panose="02020603050405020304" charset="0"/>
                <a:cs typeface="Times New Roman" panose="02020603050405020304" charset="0"/>
              </a:rPr>
              <a:t>QUYẾT ĐỊNH  →  Chỉ tiếp tục khi nhu cầu và khả năng chi trả đã được xác nhận.</a:t>
            </a:r>
            <a:endParaRPr sz="1300" b="1" i="0">
              <a:solidFill>
                <a:srgbClr val="1E3A8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658368" y="6446520"/>
            <a:ext cx="10863072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713865" cy="15367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Times New Roman" panose="02020603050405020304" charset="0"/>
                <a:cs typeface="Times New Roman" panose="02020603050405020304" charset="0"/>
              </a:rPr>
              <a:t>GIAI ĐOẠN 02  •  XÂY DỰNG</a:t>
            </a:r>
            <a:endParaRPr sz="1000" b="1" i="0">
              <a:solidFill>
                <a:srgbClr val="F59E0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698480" cy="621792"/>
          </a:xfrm>
          <a:prstGeom prst="rect">
            <a:avLst/>
          </a:prstGeom>
          <a:ln w="12700" cmpd="sng">
            <a:noFill/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E3A8A"/>
                </a:solidFill>
                <a:latin typeface="Times New Roman" panose="02020603050405020304" charset="0"/>
                <a:cs typeface="Times New Roman" panose="02020603050405020304" charset="0"/>
              </a:rPr>
              <a:t>Phát triển sản phẩm thử nghiệm tinh gọn (MVP)</a:t>
            </a:r>
            <a:endParaRPr sz="2700" b="1" i="0">
              <a:solidFill>
                <a:srgbClr val="1E3A8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18520" y="411480"/>
            <a:ext cx="502920" cy="25603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03 / 05</a:t>
            </a:r>
            <a:endParaRPr sz="1000" b="1" i="0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658368" cy="54864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1719072"/>
            <a:ext cx="5120640" cy="34747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2937"/>
                </a:solidFill>
                <a:latin typeface="Times New Roman" panose="02020603050405020304" charset="0"/>
                <a:cs typeface="Times New Roman" panose="02020603050405020304" charset="0"/>
              </a:rPr>
              <a:t>Tập trung vào giá trị cốt lõi</a:t>
            </a:r>
            <a:endParaRPr sz="1700" b="1" i="0">
              <a:solidFill>
                <a:srgbClr val="1F29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2103120"/>
            <a:ext cx="5303520" cy="566928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Làm phiên bản vừa đủ dùng, không nhồi tính năng chưa cần thiết.</a:t>
            </a:r>
            <a:endParaRPr sz="1400" b="0" i="0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8680" y="3182112"/>
            <a:ext cx="6400800" cy="6400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960120" y="2971800"/>
            <a:ext cx="457200" cy="457200"/>
          </a:xfrm>
          <a:prstGeom prst="ellipse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143000" cy="228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E3A8A"/>
                </a:solidFill>
                <a:latin typeface="Times New Roman" panose="02020603050405020304" charset="0"/>
                <a:cs typeface="Times New Roman" panose="02020603050405020304" charset="0"/>
              </a:rPr>
              <a:t>SPRINT 01</a:t>
            </a:r>
            <a:endParaRPr sz="1000" b="1" i="0">
              <a:solidFill>
                <a:srgbClr val="1E3A8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3913632"/>
            <a:ext cx="1143000" cy="228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Tuần 1–2</a:t>
            </a:r>
            <a:endParaRPr sz="1000" b="0" i="0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3063240" y="2971800"/>
            <a:ext cx="457200" cy="457200"/>
          </a:xfrm>
          <a:prstGeom prst="ellipse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743200" y="3611880"/>
            <a:ext cx="1143000" cy="228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E3A8A"/>
                </a:solidFill>
                <a:latin typeface="Times New Roman" panose="02020603050405020304" charset="0"/>
                <a:cs typeface="Times New Roman" panose="02020603050405020304" charset="0"/>
              </a:rPr>
              <a:t>SPRINT 02</a:t>
            </a:r>
            <a:endParaRPr sz="1000" b="1" i="0">
              <a:solidFill>
                <a:srgbClr val="1E3A8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0" y="3913632"/>
            <a:ext cx="1143000" cy="228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Tuần 3–4</a:t>
            </a:r>
            <a:endParaRPr sz="1000" b="0" i="0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166360" y="2971800"/>
            <a:ext cx="457200" cy="457200"/>
          </a:xfrm>
          <a:prstGeom prst="ellipse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46320" y="3611880"/>
            <a:ext cx="1143000" cy="228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E3A8A"/>
                </a:solidFill>
                <a:latin typeface="Times New Roman" panose="02020603050405020304" charset="0"/>
                <a:cs typeface="Times New Roman" panose="02020603050405020304" charset="0"/>
              </a:rPr>
              <a:t>SPRINT 03</a:t>
            </a:r>
            <a:endParaRPr sz="1000" b="1" i="0">
              <a:solidFill>
                <a:srgbClr val="1E3A8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46320" y="3913632"/>
            <a:ext cx="1143000" cy="228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Tuần 5–6</a:t>
            </a:r>
            <a:endParaRPr sz="1000" b="0" i="0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995160" y="2971800"/>
            <a:ext cx="457200" cy="457200"/>
          </a:xfrm>
          <a:prstGeom prst="ellipse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75120" y="3611880"/>
            <a:ext cx="1143000" cy="228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E3A8A"/>
                </a:solidFill>
                <a:latin typeface="Times New Roman" panose="02020603050405020304" charset="0"/>
                <a:cs typeface="Times New Roman" panose="02020603050405020304" charset="0"/>
              </a:rPr>
              <a:t>MVP</a:t>
            </a:r>
            <a:endParaRPr sz="1000" b="1" i="0">
              <a:solidFill>
                <a:srgbClr val="1E3A8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75120" y="3913632"/>
            <a:ext cx="1143000" cy="228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Bản thử</a:t>
            </a:r>
            <a:endParaRPr sz="1000" b="0" i="0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58368" y="4572000"/>
            <a:ext cx="5212080" cy="1097280"/>
          </a:xfrm>
          <a:prstGeom prst="roundRect">
            <a:avLst>
              <a:gd name="adj" fmla="val 1200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58368" y="4572000"/>
            <a:ext cx="64008" cy="109728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86968" y="4773168"/>
            <a:ext cx="4773168" cy="292608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3A8A"/>
                </a:solidFill>
                <a:latin typeface="Times New Roman" panose="02020603050405020304" charset="0"/>
                <a:cs typeface="Times New Roman" panose="02020603050405020304" charset="0"/>
              </a:rPr>
              <a:t>PHƯƠNG PHÁP  •  AGILE / SCRUM</a:t>
            </a:r>
            <a:endParaRPr sz="1300" b="1" i="0">
              <a:solidFill>
                <a:srgbClr val="1E3A8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86968" y="5193792"/>
            <a:ext cx="4773168" cy="338328"/>
          </a:xfrm>
          <a:prstGeom prst="rect">
            <a:avLst/>
          </a:prstGeom>
          <a:ln w="12700" cmpd="sng">
            <a:noFill/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Times New Roman" panose="02020603050405020304" charset="0"/>
                <a:cs typeface="Times New Roman" panose="02020603050405020304" charset="0"/>
              </a:rPr>
              <a:t>Sprint 2 tuần, ưu tiên tính năng tạo khác biệt.</a:t>
            </a:r>
            <a:endParaRPr sz="1200" b="0" i="0">
              <a:solidFill>
                <a:srgbClr val="1F29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172200" y="4572000"/>
            <a:ext cx="5349240" cy="1097280"/>
          </a:xfrm>
          <a:prstGeom prst="roundRect">
            <a:avLst>
              <a:gd name="adj" fmla="val 1200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46520" y="4754880"/>
            <a:ext cx="475488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E3A8A"/>
                </a:solidFill>
                <a:latin typeface="Times New Roman" panose="02020603050405020304" charset="0"/>
                <a:cs typeface="Times New Roman" panose="02020603050405020304" charset="0"/>
              </a:rPr>
              <a:t>EXIT GATE  /  SẴN SÀNG THỬ NGHIỆM</a:t>
            </a:r>
            <a:endParaRPr sz="1000" b="1" i="0">
              <a:solidFill>
                <a:srgbClr val="1E3A8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46520" y="5074920"/>
            <a:ext cx="466344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F2937"/>
                </a:solidFill>
                <a:latin typeface="Times New Roman" panose="02020603050405020304" charset="0"/>
                <a:cs typeface="Times New Roman" panose="02020603050405020304" charset="0"/>
              </a:rPr>
              <a:t>Sản phẩm vận hành ổn định nội bộ</a:t>
            </a:r>
            <a:endParaRPr sz="1500" b="1" i="0">
              <a:solidFill>
                <a:srgbClr val="1F29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658368" y="6446520"/>
            <a:ext cx="1086307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8368" y="6510528"/>
            <a:ext cx="5943600" cy="16459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RIKKEI  •  INNOVATION PLAYBOOK</a:t>
            </a:r>
            <a:endParaRPr sz="800" b="1" i="0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891665" cy="153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Times New Roman" panose="02020603050405020304" charset="0"/>
                <a:cs typeface="Times New Roman" panose="02020603050405020304" charset="0"/>
              </a:rPr>
              <a:t>GIAI ĐOẠN 03  •  KIỂM CHỨNG</a:t>
            </a:r>
            <a:endParaRPr sz="1000" b="1" i="0">
              <a:solidFill>
                <a:srgbClr val="F59E0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698480" cy="621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E3A8A"/>
                </a:solidFill>
                <a:latin typeface="Times New Roman" panose="02020603050405020304" charset="0"/>
                <a:cs typeface="Times New Roman" panose="02020603050405020304" charset="0"/>
              </a:rPr>
              <a:t>Thử nghiệm thực tế &amp; lắng nghe phản hồi</a:t>
            </a:r>
            <a:endParaRPr sz="2700" b="1" i="0">
              <a:solidFill>
                <a:srgbClr val="1E3A8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18520" y="411480"/>
            <a:ext cx="5029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04 / 05</a:t>
            </a:r>
            <a:endParaRPr sz="1000" b="1" i="0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658368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2880360" cy="3584448"/>
          </a:xfrm>
          <a:prstGeom prst="roundRect">
            <a:avLst>
              <a:gd name="adj" fmla="val 12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22860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FDBFE"/>
                </a:solidFill>
                <a:latin typeface="Times New Roman" panose="02020603050405020304" charset="0"/>
                <a:cs typeface="Times New Roman" panose="02020603050405020304" charset="0"/>
              </a:rPr>
              <a:t>NHÓM THỬ NGHIỆM</a:t>
            </a:r>
            <a:endParaRPr sz="1000" b="1" i="0">
              <a:solidFill>
                <a:srgbClr val="BFDBFE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2670048"/>
            <a:ext cx="228600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100</a:t>
            </a:r>
            <a:endParaRPr sz="4200" b="1" i="0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3520440"/>
            <a:ext cx="224028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khách hàng tiên phong
Early Adopters</a:t>
            </a:r>
            <a:endParaRPr sz="1600" b="1" i="0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60120" y="4736592"/>
            <a:ext cx="6400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77639" y="1874519"/>
            <a:ext cx="71323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2937"/>
                </a:solidFill>
                <a:latin typeface="Times New Roman" panose="02020603050405020304" charset="0"/>
                <a:cs typeface="Times New Roman" panose="02020603050405020304" charset="0"/>
              </a:rPr>
              <a:t>Đo lường để học hỏi, không chỉ để báo cáo</a:t>
            </a:r>
            <a:endParaRPr sz="1700" b="1" i="0">
              <a:solidFill>
                <a:srgbClr val="1F29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977639" y="2423160"/>
            <a:ext cx="338328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977639" y="2423160"/>
            <a:ext cx="64008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206240" y="2624328"/>
            <a:ext cx="2944368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3A8A"/>
                </a:solidFill>
                <a:latin typeface="Times New Roman" panose="02020603050405020304" charset="0"/>
                <a:cs typeface="Times New Roman" panose="02020603050405020304" charset="0"/>
              </a:rPr>
              <a:t>RETENTION RATE</a:t>
            </a:r>
            <a:endParaRPr sz="1300" b="1" i="0">
              <a:solidFill>
                <a:srgbClr val="1E3A8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06240" y="3044952"/>
            <a:ext cx="2944368" cy="5669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Times New Roman" panose="02020603050405020304" charset="0"/>
                <a:cs typeface="Times New Roman" panose="02020603050405020304" charset="0"/>
              </a:rPr>
              <a:t>Người dùng có quay lại
và tiếp tục sử dụng?</a:t>
            </a:r>
            <a:endParaRPr sz="1300" b="0" i="0">
              <a:solidFill>
                <a:srgbClr val="1F29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543800" y="2423160"/>
            <a:ext cx="338328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543800" y="2423160"/>
            <a:ext cx="64008" cy="13258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0" y="2624328"/>
            <a:ext cx="2944368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3A8A"/>
                </a:solidFill>
                <a:latin typeface="Times New Roman" panose="02020603050405020304" charset="0"/>
                <a:cs typeface="Times New Roman" panose="02020603050405020304" charset="0"/>
              </a:rPr>
              <a:t>NPS</a:t>
            </a:r>
            <a:endParaRPr sz="1300" b="1" i="0">
              <a:solidFill>
                <a:srgbClr val="1E3A8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0" y="3044952"/>
            <a:ext cx="2944368" cy="5669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Times New Roman" panose="02020603050405020304" charset="0"/>
                <a:cs typeface="Times New Roman" panose="02020603050405020304" charset="0"/>
              </a:rPr>
              <a:t>Người dùng có sẵn lòng
giới thiệu sản phẩm?</a:t>
            </a:r>
            <a:endParaRPr sz="1300" b="0" i="0">
              <a:solidFill>
                <a:srgbClr val="1F29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160520" y="4297680"/>
            <a:ext cx="192024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25112" y="4407408"/>
            <a:ext cx="3657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Times New Roman" panose="02020603050405020304" charset="0"/>
                <a:cs typeface="Times New Roman" panose="02020603050405020304" charset="0"/>
              </a:rPr>
              <a:t>01</a:t>
            </a:r>
            <a:endParaRPr sz="1000" b="1" i="0">
              <a:solidFill>
                <a:srgbClr val="F59E0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90872" y="4407408"/>
            <a:ext cx="123444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3A8A"/>
                </a:solidFill>
                <a:latin typeface="Times New Roman" panose="02020603050405020304" charset="0"/>
                <a:cs typeface="Times New Roman" panose="02020603050405020304" charset="0"/>
              </a:rPr>
              <a:t>XÂY DỰNG</a:t>
            </a:r>
            <a:endParaRPr sz="1100" b="1" i="0">
              <a:solidFill>
                <a:srgbClr val="1E3A8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537960" y="4297680"/>
            <a:ext cx="192024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702552" y="4407408"/>
            <a:ext cx="3657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Times New Roman" panose="02020603050405020304" charset="0"/>
                <a:cs typeface="Times New Roman" panose="02020603050405020304" charset="0"/>
              </a:rPr>
              <a:t>02</a:t>
            </a:r>
            <a:endParaRPr sz="1000" b="1" i="0">
              <a:solidFill>
                <a:srgbClr val="F59E0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68312" y="4407408"/>
            <a:ext cx="123444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3A8A"/>
                </a:solidFill>
                <a:latin typeface="Times New Roman" panose="02020603050405020304" charset="0"/>
                <a:cs typeface="Times New Roman" panose="02020603050405020304" charset="0"/>
              </a:rPr>
              <a:t>ĐO LƯỜNG</a:t>
            </a:r>
            <a:endParaRPr sz="1100" b="1" i="0">
              <a:solidFill>
                <a:srgbClr val="1E3A8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915400" y="4297680"/>
            <a:ext cx="192024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079992" y="4407408"/>
            <a:ext cx="3657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Times New Roman" panose="02020603050405020304" charset="0"/>
                <a:cs typeface="Times New Roman" panose="02020603050405020304" charset="0"/>
              </a:rPr>
              <a:t>03</a:t>
            </a:r>
            <a:endParaRPr sz="1000" b="1" i="0">
              <a:solidFill>
                <a:srgbClr val="F59E0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445752" y="4407408"/>
            <a:ext cx="123444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3A8A"/>
                </a:solidFill>
                <a:latin typeface="Times New Roman" panose="02020603050405020304" charset="0"/>
                <a:cs typeface="Times New Roman" panose="02020603050405020304" charset="0"/>
              </a:rPr>
              <a:t>HỌC HỎI</a:t>
            </a:r>
            <a:endParaRPr sz="1100" b="1" i="0">
              <a:solidFill>
                <a:srgbClr val="1E3A8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977639" y="5230368"/>
            <a:ext cx="69037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Tinh chỉnh liên tục theo chu trình Lean: Xây dựng → Đo lường → Học hỏi</a:t>
            </a:r>
            <a:endParaRPr sz="1200" b="1" i="0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658368" y="6446520"/>
            <a:ext cx="10863072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89611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Montserrat"/>
              </a:rPr>
              <a:t>GIAI ĐOẠN 04  •  TĂNG TRƯỞNG</a:t>
            </a:r>
            <a:endParaRPr sz="1000" b="1" i="0">
              <a:solidFill>
                <a:srgbClr val="F59E0B"/>
              </a:solidFill>
              <a:latin typeface="Montserra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9875520" cy="621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Montserrat"/>
              </a:rPr>
              <a:t>Tối ưu hóa &amp; mở rộng quy mô thương mại</a:t>
            </a:r>
            <a:endParaRPr sz="2700" b="1" i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18520" y="411480"/>
            <a:ext cx="5029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CBD5E1"/>
                </a:solidFill>
                <a:latin typeface="Montserrat"/>
              </a:rPr>
              <a:t>05 / 05</a:t>
            </a:r>
            <a:endParaRPr sz="1000" b="1" i="0">
              <a:solidFill>
                <a:srgbClr val="CBD5E1"/>
              </a:solidFill>
              <a:latin typeface="Montserra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658368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51206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FDBFE"/>
                </a:solidFill>
                <a:latin typeface="Montserrat"/>
              </a:rPr>
              <a:t>MỤC TIÊU NĂM ĐẦU</a:t>
            </a:r>
            <a:endParaRPr sz="1100" b="1" i="0">
              <a:solidFill>
                <a:srgbClr val="BFDBFE"/>
              </a:solidFill>
              <a:latin typeface="Montserra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2286000"/>
            <a:ext cx="5120640" cy="10515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Montserrat"/>
              </a:rPr>
              <a:t>50.000</a:t>
            </a:r>
            <a:endParaRPr sz="4800" b="1" i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3383280"/>
            <a:ext cx="484632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ontserrat"/>
              </a:rPr>
              <a:t>khách hàng tiếp cận</a:t>
            </a:r>
            <a:endParaRPr sz="2000" b="1" i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5800" y="3977639"/>
            <a:ext cx="7315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279392"/>
            <a:ext cx="484632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2E8F0"/>
                </a:solidFill>
                <a:latin typeface="Montserrat"/>
              </a:rPr>
              <a:t>Tiếp thị số đa kênh
Hạ tầng máy chủ sẵn sàng tải cao</a:t>
            </a:r>
            <a:endParaRPr sz="1500" b="0" i="0">
              <a:solidFill>
                <a:srgbClr val="E2E8F0"/>
              </a:solidFill>
              <a:latin typeface="Montserrat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0" y="1938528"/>
            <a:ext cx="4800600" cy="1143000"/>
          </a:xfrm>
          <a:prstGeom prst="roundRect">
            <a:avLst>
              <a:gd name="adj" fmla="val 12000"/>
            </a:avLst>
          </a:prstGeom>
          <a:solidFill>
            <a:srgbClr val="26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176272"/>
            <a:ext cx="41605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ontserrat"/>
              </a:rPr>
              <a:t>01  •  TĂNG TỐC TIẾP THỊ</a:t>
            </a:r>
            <a:endParaRPr sz="1300" b="1" i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20840" y="2542032"/>
            <a:ext cx="41605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Montserrat"/>
              </a:rPr>
              <a:t>Mở rộng kênh tiếp cận khách hàng</a:t>
            </a:r>
            <a:endParaRPr sz="1200" b="0" i="0">
              <a:solidFill>
                <a:srgbClr val="E2E8F0"/>
              </a:solidFill>
              <a:latin typeface="Montserrat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0" y="3337560"/>
            <a:ext cx="4800600" cy="1143000"/>
          </a:xfrm>
          <a:prstGeom prst="roundRect">
            <a:avLst>
              <a:gd name="adj" fmla="val 12000"/>
            </a:avLst>
          </a:prstGeom>
          <a:solidFill>
            <a:srgbClr val="26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3575304"/>
            <a:ext cx="41605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ontserrat"/>
              </a:rPr>
              <a:t>02  •  TỐI ƯU HẠ TẦNG</a:t>
            </a:r>
            <a:endParaRPr sz="1300" b="1" i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720840" y="3941063"/>
            <a:ext cx="41605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Montserrat"/>
              </a:rPr>
              <a:t>Ổn định, bảo mật, chịu tải lớn</a:t>
            </a:r>
            <a:endParaRPr sz="1200" b="0" i="0">
              <a:solidFill>
                <a:srgbClr val="E2E8F0"/>
              </a:solidFill>
              <a:latin typeface="Montserrat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658368" y="5349240"/>
            <a:ext cx="10863072" cy="0"/>
          </a:xfrm>
          <a:prstGeom prst="line">
            <a:avLst/>
          </a:prstGeom>
          <a:ln w="12700">
            <a:solidFill>
              <a:srgbClr val="475E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5577840"/>
            <a:ext cx="1033272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1">
                <a:solidFill>
                  <a:srgbClr val="FFFFFF"/>
                </a:solidFill>
                <a:latin typeface="Montserrat"/>
              </a:rPr>
              <a:t>“Đổi mới sáng tạo không phải là một khoảnh khắc may mắn,
mà là một quy trình có tính kỷ luật thép.”</a:t>
            </a:r>
            <a:endParaRPr sz="1700" b="1" i="1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8368" y="6510528"/>
            <a:ext cx="59436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CBD5E1"/>
                </a:solidFill>
                <a:latin typeface="Montserrat"/>
              </a:rPr>
              <a:t>RIKKEI  •  INNOVATION PLAYBOOK</a:t>
            </a:r>
            <a:endParaRPr sz="800" b="1" i="0">
              <a:solidFill>
                <a:srgbClr val="CBD5E1"/>
              </a:solidFill>
              <a:latin typeface="Montserrat"/>
            </a:endParaRP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1818</Words>
  <Application>WPS Presentation</Application>
  <PresentationFormat>On-screen Show (4:3)</PresentationFormat>
  <Paragraphs>134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SimSun</vt:lpstr>
      <vt:lpstr>Wingdings</vt:lpstr>
      <vt:lpstr>Arial</vt:lpstr>
      <vt:lpstr>Montserrat</vt:lpstr>
      <vt:lpstr>Milky Matcha Personal Use</vt:lpstr>
      <vt:lpstr>Times New Roman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Phương Thảo</cp:lastModifiedBy>
  <cp:revision>3</cp:revision>
  <dcterms:created xsi:type="dcterms:W3CDTF">2013-01-27T09:14:00Z</dcterms:created>
  <dcterms:modified xsi:type="dcterms:W3CDTF">2026-10-13T15:31:09Z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6851404E726F42FA854B41E05CB0E039_12</vt:lpwstr>
  </property>
  <property fmtid="{D5CDD505-2E9C-101B-9397-08002B2CF9AE}" pid="3" name="KSOProductBuildVer">
    <vt:lpwstr>1033-12.2.0.22222</vt:lpwstr>
  </property>
</Properties>
</file>